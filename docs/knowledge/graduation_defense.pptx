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基于改进YOLO26的无人机航拍</a:t>
            </a:r>
            <a:br/>
            <a:r>
              <a:t>多目标检测与跟踪研究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8BDF8"/>
                </a:solidFill>
                <a:latin typeface="Microsoft YaHei"/>
              </a:defRPr>
            </a:pPr>
            <a:r>
              <a:t>YOLO26-P2-Tracking: ECA + CoordAtt + DySample + WeightedConcat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VisDrone2019-MOT 数据集 · Person + Vehicle 双类检测 · 200轮训练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毕业设计答辩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指导教师: XXX   |   答辩时间: 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目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研究背景与动机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3852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无人机航拍检测的挑战与应用场景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0428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0428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数据集与预处理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9689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VisDrone2019-MOT → YOLO格式 → Person+Vehicle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6265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6265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标准YOLO26基线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55264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YOLO26n 架构分析与训练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2102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62102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P2-Tracking改进模型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91363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六大自定义模块：ECA/CoordAtt/DySample/WeightedConcat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793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7939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注意力模块详解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572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ECA · CoordAtt · DySample · BiFPN原理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5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937759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训练策略与结果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2303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两阶段训练 · 200轮 · mAP分析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961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8BDF8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5961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888736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消融实验计划 · Tracking头开发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01  研究背景与动机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Background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60604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Microsoft YaHei"/>
              </a:defRPr>
            </a:pPr>
            <a:r>
              <a:t>🎯  目标极小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行人占图像0.02%~0.5%</a:t>
            </a:r>
            <a:br/>
            <a:r>
              <a:t>标准模型P3/8头最小检测8px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554480"/>
            <a:ext cx="260604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Microsoft YaHei"/>
              </a:defRPr>
            </a:pPr>
            <a:r>
              <a:t>📐  视角多变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19456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无人机俯拍视角</a:t>
            </a:r>
            <a:br/>
            <a:r>
              <a:t>目标尺度、角度剧烈变化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554480"/>
            <a:ext cx="260604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Microsoft YaHei"/>
              </a:defRPr>
            </a:pPr>
            <a:r>
              <a:t>⚡  实时性要求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机载边缘计算场景</a:t>
            </a:r>
            <a:br/>
            <a:r>
              <a:t>需在精度与速度间平衡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554480"/>
            <a:ext cx="2606040" cy="1828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59" y="1691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Microsoft YaHei"/>
              </a:defRPr>
            </a:pPr>
            <a:r>
              <a:t>🔍  多目标跟踪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59" y="219456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检测是跟踪的基础</a:t>
            </a:r>
            <a:br/>
            <a:r>
              <a:t>需高质量检测结果支撑MOT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10698480" cy="2560320"/>
          </a:xfrm>
          <a:prstGeom prst="roundRect">
            <a:avLst/>
          </a:prstGeom>
          <a:solidFill>
            <a:srgbClr val="1A2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794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Microsoft YaHei"/>
              </a:defRPr>
            </a:pPr>
            <a:r>
              <a:t>💡 改进方案：YOLO26-P2-Tracking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9768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Microsoft YaHei"/>
              </a:defRPr>
            </a:pPr>
            <a:r>
              <a:t>• P2/4 检测头：最小检测尺寸从 8×8px 降至 4×4px，专攻无人机小目标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Microsoft YaHei"/>
              </a:defRPr>
            </a:pPr>
            <a:r>
              <a:t>• ECA 通道注意力：~0 额外参数，自适应调整通道重要性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Microsoft YaHei"/>
              </a:defRPr>
            </a:pPr>
            <a:r>
              <a:t>• CoordAtt 坐标注意力：保留精确空间位置，提升小目标定位精度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Microsoft YaHei"/>
              </a:defRPr>
            </a:pPr>
            <a:r>
              <a:t>• DySample 动态上采样：内容自适应插值，优于最近邻/双线性</a:t>
            </a:r>
          </a:p>
          <a:p>
            <a:pPr>
              <a:spcAft>
                <a:spcPts val="600"/>
              </a:spcAft>
              <a:defRPr sz="1500">
                <a:solidFill>
                  <a:srgbClr val="E2E8F0"/>
                </a:solidFill>
                <a:latin typeface="Microsoft YaHei"/>
              </a:defRPr>
            </a:pPr>
            <a:r>
              <a:t>• WeightedConcat 加权融合：BiFPN风格，学习最佳多层特征融合比例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02  数据集与预处理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Dataset &amp; Preprocessing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Microsoft YaHei"/>
              </a:defRPr>
            </a:pPr>
            <a:r>
              <a:t>VisDrone2019-MOT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来源：Tianjin University 无人机航拍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训练集：56个序列 / 24,198张图片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验证集：7个序列 / 2,846张图片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原始类别：12类 (含ignored/others)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标注格式：MOT (frame,id,x,y,w,h,score,cat,trunc,occ)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总量：116万+标注框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Microsoft YaHei"/>
              </a:defRPr>
            </a:pPr>
            <a:r>
              <a:t>类别映射 → 2类检测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person (328,701个)</a:t>
            </a:r>
            <a:br/>
            <a:r>
              <a:t>  ← pedestrian(1) + people(2)</a:t>
            </a:r>
            <a:br/>
            <a:br/>
            <a:r>
              <a:t>vehicle (592,392个)</a:t>
            </a:r>
            <a:br/>
            <a:r>
              <a:t>  ← car(4) + van(5) + truck(6) + bus(9)</a:t>
            </a:r>
            <a:br/>
            <a:br/>
            <a:r>
              <a:t>丢弃 (248,266个)</a:t>
            </a:r>
            <a:br/>
            <a:r>
              <a:t>  ← ignored/bicycle/tricycle/awning-tricycle/</a:t>
            </a:r>
            <a:br/>
            <a:r>
              <a:t>     motor/others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106984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Microsoft YaHei"/>
              </a:defRPr>
            </a:pPr>
            <a:r>
              <a:t>数据预处理流程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MOT标注(.txt/per_seq) ──→  按帧分组 ──→  PIL读取尺寸 ──→  类别映射(person/vehicle) ──→  YOLO归一化格式</a:t>
            </a:r>
            <a:br/>
            <a:r>
              <a:t>                                                                  ↓</a:t>
            </a:r>
            <a:br/>
            <a:r>
              <a:t>                                              丢弃(ignored, bicycle, tricycle, motor等)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03  标准YOLO26n 基线模型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Baseline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Microsoft YaHei"/>
              </a:defRPr>
            </a:pPr>
            <a:r>
              <a:t>模型规格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参数量：      2,504,580 (2.50M)</a:t>
            </a:r>
            <a:br/>
            <a:r>
              <a:t>GFLOPs：      5.8</a:t>
            </a:r>
            <a:br/>
            <a:r>
              <a:t>层数：          260</a:t>
            </a:r>
            <a:br/>
            <a:r>
              <a:t>检测头：      3层 (P3/8, P4/16, P5/32)</a:t>
            </a:r>
            <a:br/>
            <a:r>
              <a:t>预训练：      yolo26n.pt (COCO)</a:t>
            </a:r>
            <a:br/>
            <a:r>
              <a:t>优化器：      SGD (lr=0.01, cos调度)</a:t>
            </a:r>
            <a:br/>
            <a:r>
              <a:t>Batch Size： 8 (8GB显存)</a:t>
            </a:r>
            <a:br/>
            <a:r>
              <a:t>Epochs：      60 → 200 (自动衔接)</a:t>
            </a:r>
            <a:br/>
            <a:r>
              <a:t>输入尺寸：  512×512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2743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Microsoft YaHei"/>
              </a:defRPr>
            </a:pPr>
            <a:r>
              <a:t>训练配置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数据集：  VisDrone2019-MOT (2类)</a:t>
            </a:r>
            <a:br/>
            <a:r>
              <a:t>数据盘：  D:\yolo26_cache\ (SSD)</a:t>
            </a:r>
            <a:br/>
            <a:r>
              <a:t>缓存：      disk cache (.npy)</a:t>
            </a:r>
            <a:br/>
            <a:r>
              <a:t>增强：      mosaic, flip, hsv, scale</a:t>
            </a:r>
            <a:br/>
            <a:r>
              <a:t>Warmup：  3 epochs</a:t>
            </a:r>
            <a:br/>
            <a:r>
              <a:t>早停：      patience=15</a:t>
            </a:r>
            <a:br/>
            <a:r>
              <a:t>AMP：       False</a:t>
            </a:r>
            <a:br/>
            <a:r>
              <a:t>Workers：  4</a:t>
            </a:r>
            <a:br/>
            <a:r>
              <a:t>输出：      D:\yolo26_cache\runs\detect\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10698480" cy="17373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Microsoft YaHei"/>
              </a:defRPr>
            </a:pPr>
            <a:r>
              <a:t>当前训练进度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74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Microsoft YaHei"/>
              </a:defRPr>
            </a:pPr>
            <a:r>
              <a:t>Epoch 16 | mAP@50: 0.5120 | mAP@50-95: 0.2535 | Precision: 0.7077 | Recall: 0.4661</a:t>
            </a:r>
            <a:br/>
            <a:r>
              <a:t>Phase 1: 60轮 → Phase 2: 自动衔接200轮    GPU: RTX 4060 Ti 8GB, ~5min/epoch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04  P2-Tracking 改进模型总览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Improved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56616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标准 YOLO26n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3检测头</a:t>
            </a:r>
            <a:br/>
            <a:r>
              <a:t>无注意力</a:t>
            </a:r>
            <a:br/>
            <a:r>
              <a:t>最近邻上采样</a:t>
            </a:r>
            <a:br/>
            <a:r>
              <a:t>直接Concat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566160" cy="237744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2E8F0"/>
                </a:solidFill>
                <a:latin typeface="Microsoft YaHei"/>
              </a:defRPr>
            </a:pPr>
            <a:r>
              <a:t>YOLO26n-P2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031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+P2/4检测头</a:t>
            </a:r>
            <a:br/>
            <a:r>
              <a:t>无注意力</a:t>
            </a:r>
            <a:br/>
            <a:r>
              <a:t>最近邻上采样</a:t>
            </a:r>
            <a:br/>
            <a:r>
              <a:t>直接Concat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566160" cy="2377440"/>
          </a:xfrm>
          <a:prstGeom prst="roundRect">
            <a:avLst/>
          </a:prstGeom>
          <a:solidFill>
            <a:srgbClr val="0F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Microsoft YaHei"/>
              </a:defRPr>
            </a:pPr>
            <a:r>
              <a:t>P2-Tracking (改进)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10312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+P2/4检测头</a:t>
            </a:r>
            <a:br/>
            <a:r>
              <a:t>ECA+CoordAtt</a:t>
            </a:r>
            <a:br/>
            <a:r>
              <a:t>DySample</a:t>
            </a:r>
            <a:br/>
            <a:r>
              <a:t>WeightedConcat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3566160" cy="1005840"/>
          </a:xfrm>
          <a:prstGeom prst="roundRect">
            <a:avLst/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9767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ECA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343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通道注意力</a:t>
            </a:r>
            <a:br/>
            <a:r>
              <a:t>ECCV 2020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4206240"/>
            <a:ext cx="3566160" cy="1005840"/>
          </a:xfrm>
          <a:prstGeom prst="roundRect">
            <a:avLst/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29767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18CF8"/>
                </a:solidFill>
                <a:latin typeface="Microsoft YaHei"/>
              </a:defRPr>
            </a:pPr>
            <a:r>
              <a:t>CoordAtt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343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坐标注意力</a:t>
            </a:r>
            <a:br/>
            <a:r>
              <a:t>CVPR 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206240"/>
            <a:ext cx="3566160" cy="1005840"/>
          </a:xfrm>
          <a:prstGeom prst="roundRect">
            <a:avLst/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29767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  <a:latin typeface="Microsoft YaHei"/>
              </a:defRPr>
            </a:pPr>
            <a:r>
              <a:t>DySample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43434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动态上采样</a:t>
            </a:r>
            <a:br/>
            <a:r>
              <a:t>ICCV 2023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94959"/>
            <a:ext cx="3566160" cy="1005840"/>
          </a:xfrm>
          <a:prstGeom prst="roundRect">
            <a:avLst/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8639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Microsoft YaHei"/>
              </a:defRPr>
            </a:pPr>
            <a:r>
              <a:t>Weighted</a:t>
            </a:r>
            <a:br/>
            <a:r>
              <a:t>Concat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532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加权融合</a:t>
            </a:r>
            <a:br/>
            <a:r>
              <a:t>CVPR 2020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5394959"/>
            <a:ext cx="3566160" cy="1005840"/>
          </a:xfrm>
          <a:prstGeom prst="roundRect">
            <a:avLst/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548639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  <a:latin typeface="Microsoft YaHei"/>
              </a:defRPr>
            </a:pPr>
            <a:r>
              <a:t>ECA</a:t>
            </a:r>
            <a:br/>
            <a:r>
              <a:t>Bottleneck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532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ECA残差块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5394959"/>
            <a:ext cx="3566160" cy="1005840"/>
          </a:xfrm>
          <a:prstGeom prst="roundRect">
            <a:avLst/>
          </a:prstGeom>
          <a:solidFill>
            <a:srgbClr val="1A24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5486399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Microsoft YaHei"/>
              </a:defRPr>
            </a:pPr>
            <a:r>
              <a:t>C3k2_ECA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55321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ECA增强CSP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04  骨干网络架构对比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Backbone Architecture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1148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标准 YOLO26n Backbone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onsolas"/>
              </a:defRPr>
            </a:pPr>
            <a:r>
              <a:t>P1/2  Conv(64)</a:t>
            </a:r>
            <a:br/>
            <a:r>
              <a:t>P2/4  Conv(128)</a:t>
            </a:r>
            <a:br/>
            <a:r>
              <a:t>       C3k2(256)</a:t>
            </a:r>
            <a:br/>
            <a:r>
              <a:t>P3/8  Conv(256)</a:t>
            </a:r>
            <a:br/>
            <a:r>
              <a:t>       C3k2(512)</a:t>
            </a:r>
            <a:br/>
            <a:r>
              <a:t>P4/16 Conv(512)</a:t>
            </a:r>
            <a:br/>
            <a:r>
              <a:t>       C3k2(512)</a:t>
            </a:r>
            <a:br/>
            <a:r>
              <a:t>P5/32 Conv(1024)</a:t>
            </a:r>
            <a:br/>
            <a:r>
              <a:t>       C3k2(1024)</a:t>
            </a:r>
            <a:br/>
            <a:r>
              <a:t>       SPPF(1024)</a:t>
            </a:r>
            <a:br/>
            <a:r>
              <a:t>       C2PSA(1024)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114800"/>
          </a:xfrm>
          <a:prstGeom prst="roundRect">
            <a:avLst/>
          </a:prstGeom>
          <a:solidFill>
            <a:srgbClr val="0F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Microsoft YaHei"/>
              </a:defRPr>
            </a:pPr>
            <a:r>
              <a:t>P2-Tracking Backbone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onsolas"/>
              </a:defRPr>
            </a:pPr>
            <a:r>
              <a:t>P1/2  Conv(64)</a:t>
            </a:r>
            <a:br/>
            <a:r>
              <a:t>P2/4  Conv(128)</a:t>
            </a:r>
            <a:br/>
            <a:r>
              <a:t>       C3k2_ECA(256)   ← ECA注意力</a:t>
            </a:r>
            <a:br/>
            <a:r>
              <a:t>       CoordAtt         ← 坐标注意力</a:t>
            </a:r>
            <a:br/>
            <a:r>
              <a:t>P3/8  Conv(256)</a:t>
            </a:r>
            <a:br/>
            <a:r>
              <a:t>       C3k2_ECA(512)   ← ECA注意力</a:t>
            </a:r>
            <a:br/>
            <a:r>
              <a:t>       CoordAtt         ← 坐标注意力</a:t>
            </a:r>
            <a:br/>
            <a:r>
              <a:t>P4/16 Conv(512)</a:t>
            </a:r>
            <a:br/>
            <a:r>
              <a:t>       C3k2(512)</a:t>
            </a:r>
            <a:br/>
            <a:r>
              <a:t>P5/32 Conv(1024)</a:t>
            </a:r>
            <a:br/>
            <a:r>
              <a:t>       C3k2(1024)</a:t>
            </a:r>
            <a:br/>
            <a:r>
              <a:t>       SPPF(1024)</a:t>
            </a:r>
            <a:br/>
            <a:r>
              <a:t>       C2PSA(1024)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852160"/>
            <a:ext cx="10698480" cy="548640"/>
          </a:xfrm>
          <a:prstGeom prst="roundRect">
            <a:avLst/>
          </a:prstGeom>
          <a:solidFill>
            <a:srgbClr val="1A2E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BBF24"/>
                </a:solidFill>
                <a:latin typeface="Microsoft YaHei"/>
              </a:defRPr>
            </a:pPr>
            <a:r>
              <a:t>🔑 关键：ECA+CoordAtt 仅部署在 P2 和 P3 高分辨率层，小目标信息最丰富，注意力收益最大。P4/P5 由 C2PSA 自注意力覆盖。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04  Neck (FPN+PAN) 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Feature Pyramid Neck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3474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4A3B8"/>
                </a:solidFill>
                <a:latin typeface="Microsoft YaHei"/>
              </a:defRPr>
            </a:pPr>
            <a:r>
              <a:t>标准 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onsolas"/>
              </a:defRPr>
            </a:pPr>
            <a:r>
              <a:t>上采样: nn.Upsample(nearest)</a:t>
            </a:r>
            <a:br/>
            <a:r>
              <a:t>         直接复制像素 → 模糊</a:t>
            </a:r>
            <a:br/>
            <a:r>
              <a:t>融合:    Concat(list)</a:t>
            </a:r>
            <a:br/>
            <a:r>
              <a:t>         等权重拼接 → 盲目</a:t>
            </a:r>
            <a:br/>
            <a:br/>
            <a:r>
              <a:t>3个检测头: P3, P4, P5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3474720"/>
          </a:xfrm>
          <a:prstGeom prst="roundRect">
            <a:avLst/>
          </a:prstGeom>
          <a:solidFill>
            <a:srgbClr val="0F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Microsoft YaHei"/>
              </a:defRPr>
            </a:pPr>
            <a:r>
              <a:t>P2-Tracking 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onsolas"/>
              </a:defRPr>
            </a:pPr>
            <a:r>
              <a:t>上采样: DySample(scale=2)</a:t>
            </a:r>
            <a:br/>
            <a:r>
              <a:t>         内容自适应 → 保留细节</a:t>
            </a:r>
            <a:br/>
            <a:r>
              <a:t>融合:    WeightedConcat(w1,w2)</a:t>
            </a:r>
            <a:br/>
            <a:r>
              <a:t>         softmax学习权重 → 智能融合</a:t>
            </a:r>
            <a:br/>
            <a:br/>
            <a:r>
              <a:t>4个检测头: P2, P3, P4, P5</a:t>
            </a:r>
            <a:br/>
            <a:r>
              <a:t>  P2/4  → 极小目标 (4px+) ← 核心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106984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Microsoft YaHei"/>
              </a:defRPr>
            </a:pPr>
            <a:r>
              <a:t>对比总结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715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检测尺度: 3→4 (+P2)  │  上采样: 最近邻→DySample  │  融合: Concat→WeightedConcat  │  注意力: 无→ECA+CoordAtt  │  参数: 2.50M→2.80M (+12%)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05  注意力模块详解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ECA + CoordAtt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03520" cy="4389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  <a:latin typeface="Microsoft YaHei"/>
              </a:defRPr>
            </a:pPr>
            <a:r>
              <a:t>🔵 ECA — 高效通道注意力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ECCV 2020 · ECA-Net · conv.py:676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核心思想：</a:t>
            </a:r>
            <a:br/>
            <a:r>
              <a:t>  用 1D 卷积替代全连接层做通道交互</a:t>
            </a:r>
            <a:br/>
            <a:br/>
            <a:r>
              <a:t>自适应 Kernel Size：</a:t>
            </a:r>
            <a:br/>
            <a:r>
              <a:t>  k = |log₂(C)/2 + 0.5|  (取奇数)</a:t>
            </a:r>
            <a:br/>
            <a:r>
              <a:t>  通道数 64→k=3, 256→k=5, 1024→k=5</a:t>
            </a:r>
            <a:br/>
            <a:br/>
            <a:r>
              <a:t>计算流程：</a:t>
            </a:r>
            <a:br/>
            <a:r>
              <a:t>  AdaptiveAvgPool2d(1) → [C,1,1]</a:t>
            </a:r>
            <a:br/>
            <a:r>
              <a:t>  → Conv1d(k)          → 跨通道交互</a:t>
            </a:r>
            <a:br/>
            <a:r>
              <a:t>  → Sigmoid()          → 归一化权重</a:t>
            </a:r>
            <a:br/>
            <a:r>
              <a:t>  → × 原特征           → 通道重标定</a:t>
            </a:r>
            <a:br/>
            <a:br/>
            <a:r>
              <a:t>参数开销：仅 k 个 float (≈3~5个)</a:t>
            </a:r>
            <a:br/>
            <a:r>
              <a:t>   vs SE模块的 2×C²/r 参数</a:t>
            </a:r>
            <a:br/>
            <a:br/>
            <a:r>
              <a:t>部署：Backbone P2/P3 的 C3k2_ECA 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18CF8"/>
                </a:solidFill>
                <a:latin typeface="Microsoft YaHei"/>
              </a:defRPr>
            </a:pPr>
            <a:r>
              <a:t>🟣 CoordAtt — 坐标注意力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CVPR 2021 · conv.py:707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688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核心思想：</a:t>
            </a:r>
            <a:br/>
            <a:r>
              <a:t>  将 2D 池化分解为 X/Y 两个 1D 编码</a:t>
            </a:r>
            <a:br/>
            <a:r>
              <a:t>  保留精确空间坐标信息</a:t>
            </a:r>
            <a:br/>
            <a:br/>
            <a:r>
              <a:t>计算流程：</a:t>
            </a:r>
            <a:br/>
            <a:r>
              <a:t>  X方向池化([H,1]) ⊕ Y方向池化([1,W])</a:t>
            </a:r>
            <a:br/>
            <a:r>
              <a:t>  → 拼接 → Conv1×1降维(r=32)</a:t>
            </a:r>
            <a:br/>
            <a:r>
              <a:t>  → BN+Hardswish → 分离X/Y</a:t>
            </a:r>
            <a:br/>
            <a:r>
              <a:t>  → 双Sigmoid门控 → a_h × a_w × 原特征</a:t>
            </a:r>
            <a:br/>
            <a:br/>
            <a:r>
              <a:t>优势：</a:t>
            </a:r>
            <a:br/>
            <a:r>
              <a:t>  SE注意力：抹掉空间信息</a:t>
            </a:r>
            <a:br/>
            <a:r>
              <a:t>  CoordAtt： 保留 (x,y) 坐标</a:t>
            </a:r>
            <a:br/>
            <a:r>
              <a:t>  → 小目标定位精度显著提升</a:t>
            </a:r>
            <a:br/>
            <a:br/>
            <a:r>
              <a:t>部署：Backbone P2/P3 层单独使用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05  注意力模块详解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DySample + WeightedConcat + ECABottleneck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  <a:latin typeface="Microsoft YaHei"/>
              </a:defRPr>
            </a:pPr>
            <a:r>
              <a:t>🟣 DySample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ICCV 2023 · conv.py:771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动态上采样</a:t>
            </a:r>
            <a:br/>
            <a:br/>
            <a:r>
              <a:t>Pool(8×8)→Conv→SiLU</a:t>
            </a:r>
            <a:br/>
            <a:r>
              <a:t>→Conv→生成offset</a:t>
            </a:r>
            <a:br/>
            <a:br/>
            <a:r>
              <a:t>offset缩放0.25/Max(W,1)</a:t>
            </a:r>
            <a:br/>
            <a:r>
              <a:t>限制偏移范围</a:t>
            </a:r>
            <a:br/>
            <a:br/>
            <a:r>
              <a:t>grid_sample(特征,偏移网格)</a:t>
            </a:r>
            <a:br/>
            <a:r>
              <a:t>内容自适应采样</a:t>
            </a:r>
            <a:br/>
            <a:br/>
            <a:r>
              <a:t>vs 最近邻：</a:t>
            </a:r>
            <a:br/>
            <a:r>
              <a:t>保留更多小目标细节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3832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Microsoft YaHei"/>
              </a:defRPr>
            </a:pPr>
            <a:r>
              <a:t>🟡 WeightedConcat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57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CVPR 2020 (BiFPN) · conv.py:745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加权特征融合</a:t>
            </a:r>
            <a:br/>
            <a:br/>
            <a:r>
              <a:t>w = softmax(params)</a:t>
            </a:r>
            <a:br/>
            <a:r>
              <a:t>learnable weights</a:t>
            </a:r>
            <a:br/>
            <a:br/>
            <a:r>
              <a:t>feat₁×w₁ + feat₂×w₂</a:t>
            </a:r>
            <a:br/>
            <a:r>
              <a:t>→ torch.cat</a:t>
            </a:r>
            <a:br/>
            <a:br/>
            <a:r>
              <a:t>例: P3=0.7, P4=0.3</a:t>
            </a:r>
            <a:br/>
            <a:r>
              <a:t>自动学习最佳比例</a:t>
            </a:r>
            <a:br/>
            <a:br/>
            <a:r>
              <a:t>取代所有 Concat 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54480"/>
            <a:ext cx="3383280" cy="4389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91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Microsoft YaHei"/>
              </a:defRPr>
            </a:pPr>
            <a:r>
              <a:t>🟢 ECABottleneck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57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block.py:486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37744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ECA增强残差块</a:t>
            </a:r>
            <a:br/>
            <a:br/>
            <a:r>
              <a:t>Conv(1×1)→Conv(3×3)</a:t>
            </a:r>
            <a:br/>
            <a:r>
              <a:t>→ECA→+残差连接</a:t>
            </a:r>
            <a:br/>
            <a:br/>
            <a:r>
              <a:t>vs 标准Bottleneck：</a:t>
            </a:r>
            <a:br/>
            <a:r>
              <a:t>仅增加~5个参数</a:t>
            </a:r>
            <a:br/>
            <a:br/>
            <a:r>
              <a:t>被 C3k2_ECA 调用</a:t>
            </a:r>
            <a:br/>
            <a:r>
              <a:t>替代标准 Bottleneck</a:t>
            </a:r>
            <a:br/>
            <a:br/>
            <a:r>
              <a:t>部署：Backbone P2/P3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06  训练策略与当前结果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Training Strategy &amp;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01168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Microsoft YaHei"/>
              </a:defRPr>
            </a:pPr>
            <a:r>
              <a:t>Phase 1: 标准YOLO26n (进行中)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Epochs: 60 → 自动衔接200</a:t>
            </a:r>
            <a:br/>
            <a:r>
              <a:t>Batch=8, imgsz=512, SGD+cos调度</a:t>
            </a:r>
            <a:br/>
            <a:r>
              <a:t>建立baseline，验证数据流水线</a:t>
            </a:r>
            <a:br/>
            <a:r>
              <a:t>当前 Epoch 16: mAP@50=0.512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2011680"/>
          </a:xfrm>
          <a:prstGeom prst="roundRect">
            <a:avLst/>
          </a:prstGeom>
          <a:solidFill>
            <a:srgbClr val="0F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  <a:latin typeface="Microsoft YaHei"/>
              </a:defRPr>
            </a:pPr>
            <a:r>
              <a:t>Phase 2: P2-Tracking (待启动)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Microsoft YaHei"/>
              </a:defRPr>
            </a:pPr>
            <a:r>
              <a:t>Epochs: 200 (yolo26s-p2-tracking.yaml)</a:t>
            </a:r>
            <a:br/>
            <a:r>
              <a:t>预训练: yolo26s.pt 权重迁移</a:t>
            </a:r>
            <a:br/>
            <a:r>
              <a:t>同数据集，对比baseline</a:t>
            </a:r>
            <a:br/>
            <a:r>
              <a:t>预期 mAP@50: 0.60~0.68 (+5~10%)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94760"/>
            <a:ext cx="10698480" cy="21031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Microsoft YaHei"/>
              </a:defRPr>
            </a:pPr>
            <a:r>
              <a:t>训练指标走势 (Epoch 1→16)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  <a:latin typeface="Consolas"/>
              </a:defRPr>
            </a:pPr>
            <a:r>
              <a:t>Epoch  1:  mAP@50=0.350  mAP@50-95=0.152  P=0.435  R=0.410</a:t>
            </a:r>
            <a:br/>
            <a:r>
              <a:t>Epoch  5:  mAP@50=0.498  mAP@50-95=0.235  P=0.656  R=0.469</a:t>
            </a:r>
            <a:br/>
            <a:r>
              <a:t>Epoch 10:  mAP@50=0.500  mAP@50-95=0.248  P=0.697  R=0.454</a:t>
            </a:r>
            <a:br/>
            <a:r>
              <a:t>Epoch 16:  mAP@50=0.512  mAP@50-95=0.254  P=0.708  R=0.466</a:t>
            </a:r>
            <a:br/>
            <a:r>
              <a:t>趋势: mAP稳步上升 (+16%)，Precision已稳定~0.70，Recall缓慢恢复中。中期阶段，预计200轮mAP@50可达0.60+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  <a:latin typeface="Microsoft YaHei"/>
              </a:defRPr>
            </a:pPr>
            <a:r>
              <a:t>07 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Summary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9144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6984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4D399"/>
                </a:solidFill>
                <a:latin typeface="Microsoft YaHei"/>
              </a:defRPr>
            </a:pPr>
            <a:r>
              <a:t>✅ 已完成工作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VisDrone2019-MOT → YOLO 2类(person+vehicle) 数据转换流水线 (scripts/convert_mot2yolo.py)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标准YOLO26n 基线训练启动，60→200轮自动衔接，实时中文监控 (scripts/monitor_train.py)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P2-Tracking改进模型完整架构设计：6大自定义模块 + 4检测头 + FPN+PAN改进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知识库体系建设：HTML网页文档系统 + 训练指标详解 + 论文参考文献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训练管理体系：D盘SSD缓存、检查点保存、自动恢复、检测点里程碑汇报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10698480" cy="22860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251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BF24"/>
                </a:solidFill>
                <a:latin typeface="Microsoft YaHei"/>
              </a:defRPr>
            </a:pPr>
            <a:r>
              <a:t>📋 后续计划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Phase 2: 标准YOLO26n 200轮训练完成后，启动P2-Tracking改进模型训练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消融实验: 逐一去掉ECA/CoordAtt/DySample/WeightedConcat，量化各模块贡献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Tracking头开发: JDE范式 (检测+ReID嵌入) + TripletLoss + CenterLoss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多目标跟踪: 在MOT验证集上评估 MOTA/IDF1/IDs 等跟踪指标</a:t>
            </a:r>
          </a:p>
          <a:p>
            <a:pPr>
              <a:spcAft>
                <a:spcPts val="600"/>
              </a:spcAft>
              <a:defRPr sz="1400">
                <a:solidFill>
                  <a:srgbClr val="E2E8F0"/>
                </a:solidFill>
                <a:latin typeface="Microsoft YaHei"/>
              </a:defRPr>
            </a:pPr>
            <a:r>
              <a:t>• 论文撰写: 基于实验数据和消融研究，完成毕业论文章节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38BDF8"/>
                </a:solidFill>
                <a:latin typeface="Microsoft YaHei"/>
              </a:defRPr>
            </a:pPr>
            <a:r>
              <a:t>基于改进YOLO26的无人机航拍多目标检测与跟踪研究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VisDrone2019-MOT · ECA · CoordAtt · DySample · WeightedConcat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4D399"/>
                </a:solidFill>
                <a:latin typeface="Microsoft YaHei"/>
              </a:defRPr>
            </a:pPr>
            <a:r>
              <a:t>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